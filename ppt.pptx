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9" d="100"/>
          <a:sy n="69" d="100"/>
        </p:scale>
        <p:origin x="50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0507-2D04-7923-A2EC-F309ECAD78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624242-3A89-7EC3-C08D-2415E60F25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E98B48D-37C0-D24F-5AF8-0800AF654D1B}"/>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7FA52A53-45AB-9F29-3767-2672069599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1DCFAB-5AF5-095A-408D-30CDBC63A3F6}"/>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576294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601B1-0750-6D44-E9A7-628EE6003BE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186C7E-5BDE-D7F8-D8B1-EAB9482706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F736D6-34FD-BDAF-050A-3DF4476F1D2E}"/>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B6009A86-1ADF-1308-CA0A-BDD57277EC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9282ED-1932-35FC-0255-5568800BE048}"/>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3094480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6B181-F60B-E797-2AA1-F8F2D50175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9ADFAC-126D-EFDE-281E-40633E2551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D9E281-A463-D412-075B-0B270D4E9785}"/>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641BD35E-AB8D-9902-5EED-73BCA8B2B6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EB401A-D803-8E26-C575-C6CA365C982C}"/>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74299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815D9-962F-1E00-2235-9074CF4441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C9B8C8-BA91-54B7-BBA2-A2DC06D9F2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048E17-6FF4-C50B-612E-7E728BEC55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4AC4A8-7166-88AD-A0E2-C88F1AA29E21}"/>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6" name="Footer Placeholder 5">
            <a:extLst>
              <a:ext uri="{FF2B5EF4-FFF2-40B4-BE49-F238E27FC236}">
                <a16:creationId xmlns:a16="http://schemas.microsoft.com/office/drawing/2014/main" id="{7F7A01AE-2AD0-C4EF-2114-0F85BF2943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16161E-F19F-06AC-BF3E-B3EEDA3EEBE8}"/>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28557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4C75-2901-A2CA-46D5-51FFEEC4B03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2F7E06-525A-9CFF-D81F-D91580A48B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6ACA70-AF1E-65C3-1A03-285A9F11CC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FF7DEF-EABC-3AC4-956E-0941573F6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8B2E3B-64CC-384C-1002-6D0A2DA712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6E5CCF-97BE-E48B-900F-AEE06F4038DD}"/>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8" name="Footer Placeholder 7">
            <a:extLst>
              <a:ext uri="{FF2B5EF4-FFF2-40B4-BE49-F238E27FC236}">
                <a16:creationId xmlns:a16="http://schemas.microsoft.com/office/drawing/2014/main" id="{6DB9D027-FABC-54A9-0A6F-D1AC96F83C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3AE5C6A-03BD-F34A-740F-90A1A4035275}"/>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2117002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A7FD1-7944-F891-E3D9-661D96FD33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591ACB-F370-6871-0E88-50AF000FDECC}"/>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4" name="Footer Placeholder 3">
            <a:extLst>
              <a:ext uri="{FF2B5EF4-FFF2-40B4-BE49-F238E27FC236}">
                <a16:creationId xmlns:a16="http://schemas.microsoft.com/office/drawing/2014/main" id="{938E86DB-E45A-C630-A23A-D45B5A217C5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925333D-6C42-F533-2AA6-931BC192E11D}"/>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219228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3E805A-EB9B-CD8B-4E0A-676605B8C27F}"/>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3" name="Footer Placeholder 2">
            <a:extLst>
              <a:ext uri="{FF2B5EF4-FFF2-40B4-BE49-F238E27FC236}">
                <a16:creationId xmlns:a16="http://schemas.microsoft.com/office/drawing/2014/main" id="{897457A6-F68F-048F-4A9A-835ABC0796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A9C646-6D93-05C0-F73F-3371C0189538}"/>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3599330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E2FA3-CAA4-58BE-2457-467D7D7C7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3ADFE4-6A0F-73B7-8745-FF003DDD84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C8D509-55E5-74F6-EB9E-7616910D80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C5918-7DDF-9F4D-B503-E3798B1EC15A}"/>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6" name="Footer Placeholder 5">
            <a:extLst>
              <a:ext uri="{FF2B5EF4-FFF2-40B4-BE49-F238E27FC236}">
                <a16:creationId xmlns:a16="http://schemas.microsoft.com/office/drawing/2014/main" id="{C6ED3874-9EB1-4C6E-D800-5AFD43A62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C71D64-E671-F99B-ECE7-0201560CD54A}"/>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979418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2459-A187-F2E4-E11E-65A0355157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19C8FD-B4D2-E89C-9C00-137A91AE2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DB29C1B-A136-F25D-67CF-15747B7F0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E266D5-A84D-2C50-CEC4-F4FAC9FB9475}"/>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6" name="Footer Placeholder 5">
            <a:extLst>
              <a:ext uri="{FF2B5EF4-FFF2-40B4-BE49-F238E27FC236}">
                <a16:creationId xmlns:a16="http://schemas.microsoft.com/office/drawing/2014/main" id="{A124B559-773C-A00C-F636-9A6F4DC774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E44F55-6480-8877-8BAE-214C2CA4186E}"/>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1821822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6118A-6B22-FD5B-D0EC-DE32ADCAE93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517997-D7B8-7128-C5AB-3035023FAE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1547E6-47AC-1749-1D05-8B2F40B95448}"/>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2BEF6C25-9596-420D-B6FA-6F6B1EB8DE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559871-2DF0-9FEA-9BB0-8DD3A8363708}"/>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183259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9AE38-7E41-AF39-7F88-59557FB49D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FA7E44-FE34-9C89-1D6B-5788FA636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DC1E82-72CF-731C-672C-4C2D2DCE4538}"/>
              </a:ext>
            </a:extLst>
          </p:cNvPr>
          <p:cNvSpPr>
            <a:spLocks noGrp="1"/>
          </p:cNvSpPr>
          <p:nvPr>
            <p:ph type="dt" sz="half" idx="10"/>
          </p:nvPr>
        </p:nvSpPr>
        <p:spPr/>
        <p:txBody>
          <a:body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6A978A26-92DA-781C-4958-06C215A0B1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E0DF2E-B513-C1CD-57F2-0F622A1C9BE4}"/>
              </a:ext>
            </a:extLst>
          </p:cNvPr>
          <p:cNvSpPr>
            <a:spLocks noGrp="1"/>
          </p:cNvSpPr>
          <p:nvPr>
            <p:ph type="sldNum" sz="quarter" idx="12"/>
          </p:nvPr>
        </p:nvSpPr>
        <p:spPr/>
        <p:txBody>
          <a:bodyPr/>
          <a:lstStyle/>
          <a:p>
            <a:fld id="{F65C5267-C2A0-4920-97A6-275322A8FE68}" type="slidenum">
              <a:rPr lang="en-IN" smtClean="0"/>
              <a:t>‹#›</a:t>
            </a:fld>
            <a:endParaRPr lang="en-IN"/>
          </a:p>
        </p:txBody>
      </p:sp>
    </p:spTree>
    <p:extLst>
      <p:ext uri="{BB962C8B-B14F-4D97-AF65-F5344CB8AC3E}">
        <p14:creationId xmlns:p14="http://schemas.microsoft.com/office/powerpoint/2010/main" val="622476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4C5311-9D4E-482F-3F61-9BE7AC1EEA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6052A5-B3D9-89FC-865F-2EA0079DEA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D01162-5560-3DC1-E64A-AEE425C274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C938D-BB29-4290-8126-AFDEE8202021}" type="datetimeFigureOut">
              <a:rPr lang="en-IN" smtClean="0"/>
              <a:t>15-06-2024</a:t>
            </a:fld>
            <a:endParaRPr lang="en-IN"/>
          </a:p>
        </p:txBody>
      </p:sp>
      <p:sp>
        <p:nvSpPr>
          <p:cNvPr id="5" name="Footer Placeholder 4">
            <a:extLst>
              <a:ext uri="{FF2B5EF4-FFF2-40B4-BE49-F238E27FC236}">
                <a16:creationId xmlns:a16="http://schemas.microsoft.com/office/drawing/2014/main" id="{625EF057-DECC-FA40-061A-7E9E8DE6A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861A93-C783-6CD7-82FD-1E409E1D7F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5C5267-C2A0-4920-97A6-275322A8FE68}" type="slidenum">
              <a:rPr lang="en-IN" smtClean="0"/>
              <a:t>‹#›</a:t>
            </a:fld>
            <a:endParaRPr lang="en-IN"/>
          </a:p>
        </p:txBody>
      </p:sp>
    </p:spTree>
    <p:extLst>
      <p:ext uri="{BB962C8B-B14F-4D97-AF65-F5344CB8AC3E}">
        <p14:creationId xmlns:p14="http://schemas.microsoft.com/office/powerpoint/2010/main" val="32315560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D347-EA3B-0F25-5FE5-B2DCD8B33AA8}"/>
              </a:ext>
            </a:extLst>
          </p:cNvPr>
          <p:cNvSpPr>
            <a:spLocks noGrp="1"/>
          </p:cNvSpPr>
          <p:nvPr>
            <p:ph type="title"/>
          </p:nvPr>
        </p:nvSpPr>
        <p:spPr>
          <a:xfrm>
            <a:off x="1965037" y="204498"/>
            <a:ext cx="10515600" cy="2252375"/>
          </a:xfrm>
        </p:spPr>
        <p:txBody>
          <a:bodyPr>
            <a:normAutofit fontScale="90000"/>
          </a:bodyPr>
          <a:lstStyle/>
          <a:p>
            <a:r>
              <a:rPr lang="en-US" sz="4000" dirty="0">
                <a:latin typeface="Baskerville Old Face" panose="02020602080505020303" pitchFamily="18" charset="0"/>
              </a:rPr>
              <a:t>VIGNAN INSTITUTE OF MANAGEMENT AND </a:t>
            </a:r>
            <a:br>
              <a:rPr lang="en-US" sz="4000" dirty="0">
                <a:latin typeface="Baskerville Old Face" panose="02020602080505020303" pitchFamily="18" charset="0"/>
              </a:rPr>
            </a:br>
            <a:r>
              <a:rPr lang="en-US" sz="4000" dirty="0">
                <a:latin typeface="Baskerville Old Face" panose="02020602080505020303" pitchFamily="18" charset="0"/>
              </a:rPr>
              <a:t>           TECHNOLOGY FOR WOMEN</a:t>
            </a:r>
            <a:br>
              <a:rPr lang="en-US" sz="4000" dirty="0">
                <a:latin typeface="Baskerville Old Face" panose="02020602080505020303" pitchFamily="18" charset="0"/>
              </a:rPr>
            </a:br>
            <a:r>
              <a:rPr lang="en-US" sz="4000" dirty="0">
                <a:latin typeface="Baskerville Old Face" panose="02020602080505020303" pitchFamily="18" charset="0"/>
              </a:rPr>
              <a:t>                               </a:t>
            </a:r>
            <a:r>
              <a:rPr lang="en-US" sz="1600" dirty="0">
                <a:latin typeface="Baskerville Old Face" panose="02020602080505020303" pitchFamily="18" charset="0"/>
              </a:rPr>
              <a:t>MINI PROJECT </a:t>
            </a:r>
            <a:br>
              <a:rPr lang="en-US" sz="1600" dirty="0">
                <a:latin typeface="Baskerville Old Face" panose="02020602080505020303" pitchFamily="18" charset="0"/>
              </a:rPr>
            </a:br>
            <a:r>
              <a:rPr lang="en-US" sz="3100" dirty="0">
                <a:latin typeface="Baskerville Old Face" panose="02020602080505020303" pitchFamily="18" charset="0"/>
              </a:rPr>
              <a:t>                PARKING MANAGEMENT SYSTEM</a:t>
            </a:r>
            <a:endParaRPr lang="en-IN" sz="3100" dirty="0">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4EAC0BAC-8186-7DFC-AAD5-44CAEA2D7C7D}"/>
              </a:ext>
            </a:extLst>
          </p:cNvPr>
          <p:cNvSpPr>
            <a:spLocks noGrp="1"/>
          </p:cNvSpPr>
          <p:nvPr>
            <p:ph sz="half" idx="1"/>
          </p:nvPr>
        </p:nvSpPr>
        <p:spPr>
          <a:xfrm>
            <a:off x="914400" y="3087255"/>
            <a:ext cx="5181600" cy="1632528"/>
          </a:xfrm>
        </p:spPr>
        <p:txBody>
          <a:bodyPr>
            <a:normAutofit fontScale="92500"/>
          </a:bodyPr>
          <a:lstStyle/>
          <a:p>
            <a:r>
              <a:rPr lang="en-US" dirty="0"/>
              <a:t>GUIDED BY </a:t>
            </a:r>
          </a:p>
          <a:p>
            <a:pPr marL="0" indent="0">
              <a:buNone/>
            </a:pPr>
            <a:r>
              <a:rPr lang="en-US" dirty="0"/>
              <a:t>SANDHYA RANI</a:t>
            </a:r>
          </a:p>
          <a:p>
            <a:pPr marL="0" indent="0">
              <a:buNone/>
            </a:pPr>
            <a:r>
              <a:rPr lang="en-US" dirty="0"/>
              <a:t>(Assistant Professor dept of AI&amp;DS)</a:t>
            </a:r>
            <a:endParaRPr lang="en-IN" dirty="0"/>
          </a:p>
        </p:txBody>
      </p:sp>
      <p:sp>
        <p:nvSpPr>
          <p:cNvPr id="4" name="Content Placeholder 3">
            <a:extLst>
              <a:ext uri="{FF2B5EF4-FFF2-40B4-BE49-F238E27FC236}">
                <a16:creationId xmlns:a16="http://schemas.microsoft.com/office/drawing/2014/main" id="{35A35BC2-BF19-6B50-83F1-451F25B948CC}"/>
              </a:ext>
            </a:extLst>
          </p:cNvPr>
          <p:cNvSpPr>
            <a:spLocks noGrp="1"/>
          </p:cNvSpPr>
          <p:nvPr>
            <p:ph sz="half" idx="2"/>
          </p:nvPr>
        </p:nvSpPr>
        <p:spPr>
          <a:xfrm>
            <a:off x="6864927" y="2660072"/>
            <a:ext cx="5181600" cy="3276745"/>
          </a:xfrm>
        </p:spPr>
        <p:txBody>
          <a:bodyPr>
            <a:normAutofit fontScale="92500"/>
          </a:bodyPr>
          <a:lstStyle/>
          <a:p>
            <a:r>
              <a:rPr lang="en-US" dirty="0"/>
              <a:t>BY </a:t>
            </a:r>
          </a:p>
          <a:p>
            <a:pPr marL="0" indent="0">
              <a:buNone/>
            </a:pPr>
            <a:r>
              <a:rPr lang="en-US" dirty="0"/>
              <a:t>SINDHUJA(22UP1A7206)</a:t>
            </a:r>
          </a:p>
          <a:p>
            <a:pPr marL="0" indent="0">
              <a:buNone/>
            </a:pPr>
            <a:r>
              <a:rPr lang="en-IN" dirty="0"/>
              <a:t>AKSHAYA NAIDI(22UP1A7201)</a:t>
            </a:r>
          </a:p>
          <a:p>
            <a:pPr marL="0" indent="0">
              <a:buNone/>
            </a:pPr>
            <a:r>
              <a:rPr lang="en-IN" dirty="0"/>
              <a:t>AKSHITHA(22UP1A7212)</a:t>
            </a:r>
          </a:p>
          <a:p>
            <a:pPr marL="0" indent="0">
              <a:buNone/>
            </a:pPr>
            <a:r>
              <a:rPr lang="en-IN" dirty="0"/>
              <a:t>CHINMAYEE(22UP1A7263)</a:t>
            </a:r>
          </a:p>
          <a:p>
            <a:pPr marL="0" indent="0">
              <a:buNone/>
            </a:pPr>
            <a:r>
              <a:rPr lang="en-IN" dirty="0"/>
              <a:t>ANJALI(22UP1A7207)</a:t>
            </a:r>
          </a:p>
        </p:txBody>
      </p:sp>
      <p:pic>
        <p:nvPicPr>
          <p:cNvPr id="5" name="Picture 4">
            <a:extLst>
              <a:ext uri="{FF2B5EF4-FFF2-40B4-BE49-F238E27FC236}">
                <a16:creationId xmlns:a16="http://schemas.microsoft.com/office/drawing/2014/main" id="{66EE82D4-4D35-880D-5023-E4355493DA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8187" y="683850"/>
            <a:ext cx="1414576" cy="1293670"/>
          </a:xfrm>
          <a:prstGeom prst="rect">
            <a:avLst/>
          </a:prstGeom>
        </p:spPr>
      </p:pic>
    </p:spTree>
    <p:extLst>
      <p:ext uri="{BB962C8B-B14F-4D97-AF65-F5344CB8AC3E}">
        <p14:creationId xmlns:p14="http://schemas.microsoft.com/office/powerpoint/2010/main" val="371562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E754F-8219-387E-7973-ED87B52F3E7D}"/>
              </a:ext>
            </a:extLst>
          </p:cNvPr>
          <p:cNvSpPr>
            <a:spLocks noGrp="1"/>
          </p:cNvSpPr>
          <p:nvPr>
            <p:ph type="title"/>
          </p:nvPr>
        </p:nvSpPr>
        <p:spPr>
          <a:xfrm>
            <a:off x="256309" y="208107"/>
            <a:ext cx="10515600" cy="1325563"/>
          </a:xfrm>
        </p:spPr>
        <p:txBody>
          <a:bodyPr>
            <a:normAutofit/>
          </a:bodyPr>
          <a:lstStyle/>
          <a:p>
            <a:r>
              <a:rPr lang="en-US" sz="4800" dirty="0">
                <a:solidFill>
                  <a:schemeClr val="accent2">
                    <a:lumMod val="50000"/>
                  </a:schemeClr>
                </a:solidFill>
                <a:latin typeface="Baskerville Old Face" panose="02020602080505020303" pitchFamily="18" charset="0"/>
              </a:rPr>
              <a:t>ABSTRACT</a:t>
            </a:r>
            <a:endParaRPr lang="en-IN" sz="4800" dirty="0">
              <a:solidFill>
                <a:schemeClr val="accent2">
                  <a:lumMod val="50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C93CC50B-B2F1-4A57-3C91-D2B9F06ABE76}"/>
              </a:ext>
            </a:extLst>
          </p:cNvPr>
          <p:cNvSpPr>
            <a:spLocks noGrp="1"/>
          </p:cNvSpPr>
          <p:nvPr>
            <p:ph idx="1"/>
          </p:nvPr>
        </p:nvSpPr>
        <p:spPr>
          <a:xfrm>
            <a:off x="256309" y="1320800"/>
            <a:ext cx="11524211" cy="5329093"/>
          </a:xfrm>
        </p:spPr>
        <p:txBody>
          <a:bodyPr>
            <a:normAutofit fontScale="77500" lnSpcReduction="20000"/>
          </a:bodyPr>
          <a:lstStyle/>
          <a:p>
            <a:pPr marL="0" indent="0" algn="just">
              <a:lnSpc>
                <a:spcPct val="110000"/>
              </a:lnSpc>
              <a:buNone/>
            </a:pPr>
            <a:r>
              <a:rPr lang="en-US" sz="2800" dirty="0">
                <a:latin typeface="Times New Roman" panose="02020603050405020304" pitchFamily="18" charset="0"/>
                <a:cs typeface="Times New Roman" panose="02020603050405020304" pitchFamily="18" charset="0"/>
              </a:rPr>
              <a:t>The Car Parking Management System developed using Python offers a comprehensive solution to address the challenges associated with urban parking management. The key features of the system, including real-time slot availability information and parking status display, aimed at optimizing space utilization and enhancing user experience. The system facilitates efficient parking slot allocation through dynamic management of parking spaces within the parking lot. Using Python programming language, the system maintains a digital representation of the parking lot, dividing it into discrete slots. Through an intuitive command-line interface, users can easily access information regarding available parking slots and current parking status. The system dynamically updates slot availability as vehicles enter and vacate the parking lot, ensuring accurate representation of available parking spaces. Users can query the system to retrieve information on available parking slots, enabling them to make informed decisions when seeking parking. The system provides a comprehensive display of parking status, presenting users with real-time information on slot occupancy. By leveraging Python's capabilities, the system offers a user-friendly interface for viewing the current status of each parking slot, distinguishing between occupied and vacant slots.</a:t>
            </a:r>
          </a:p>
          <a:p>
            <a:endParaRPr lang="en-IN" dirty="0"/>
          </a:p>
        </p:txBody>
      </p:sp>
    </p:spTree>
    <p:extLst>
      <p:ext uri="{BB962C8B-B14F-4D97-AF65-F5344CB8AC3E}">
        <p14:creationId xmlns:p14="http://schemas.microsoft.com/office/powerpoint/2010/main" val="243744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885BA-E071-8710-57A9-07B1F4BCCF7D}"/>
              </a:ext>
            </a:extLst>
          </p:cNvPr>
          <p:cNvSpPr>
            <a:spLocks noGrp="1"/>
          </p:cNvSpPr>
          <p:nvPr>
            <p:ph type="title"/>
          </p:nvPr>
        </p:nvSpPr>
        <p:spPr>
          <a:xfrm>
            <a:off x="116840" y="0"/>
            <a:ext cx="10515600" cy="1325563"/>
          </a:xfrm>
        </p:spPr>
        <p:txBody>
          <a:bodyPr/>
          <a:lstStyle/>
          <a:p>
            <a:r>
              <a:rPr lang="en-US" dirty="0">
                <a:solidFill>
                  <a:schemeClr val="accent2">
                    <a:lumMod val="50000"/>
                  </a:schemeClr>
                </a:solidFill>
                <a:latin typeface="Baskerville Old Face" panose="02020602080505020303" pitchFamily="18" charset="0"/>
              </a:rPr>
              <a:t>INTRODUCTION</a:t>
            </a:r>
            <a:endParaRPr lang="en-IN" dirty="0">
              <a:solidFill>
                <a:schemeClr val="accent2">
                  <a:lumMod val="50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64554893-E446-8038-96C6-72D0EC276903}"/>
              </a:ext>
            </a:extLst>
          </p:cNvPr>
          <p:cNvSpPr>
            <a:spLocks noGrp="1"/>
          </p:cNvSpPr>
          <p:nvPr>
            <p:ph idx="1"/>
          </p:nvPr>
        </p:nvSpPr>
        <p:spPr>
          <a:xfrm>
            <a:off x="375920" y="1219200"/>
            <a:ext cx="10977880" cy="4957763"/>
          </a:xfrm>
        </p:spPr>
        <p:txBody>
          <a:bodyPr>
            <a:normAutofit fontScale="92500" lnSpcReduction="20000"/>
          </a:bodyPr>
          <a:lstStyle/>
          <a:p>
            <a:pPr algn="just"/>
            <a:r>
              <a:rPr lang="en-US" b="0" i="0" dirty="0">
                <a:solidFill>
                  <a:srgbClr val="121416"/>
                </a:solidFill>
                <a:effectLst/>
                <a:highlight>
                  <a:srgbClr val="FFFFFF"/>
                </a:highlight>
                <a:latin typeface="Times New Roman" panose="02020603050405020304" pitchFamily="18" charset="0"/>
                <a:cs typeface="Times New Roman" panose="02020603050405020304" pitchFamily="18" charset="0"/>
              </a:rPr>
              <a:t>A parking management system refers to the innovative technologies providing solutions in the parking industry. The core idea behind any parking management system is self-explanatory.</a:t>
            </a:r>
          </a:p>
          <a:p>
            <a:pPr algn="just"/>
            <a:r>
              <a:rPr lang="en-US" b="0" i="0" dirty="0">
                <a:solidFill>
                  <a:srgbClr val="121416"/>
                </a:solidFill>
                <a:effectLst/>
                <a:highlight>
                  <a:srgbClr val="FFFFFF"/>
                </a:highlight>
                <a:latin typeface="Times New Roman" panose="02020603050405020304" pitchFamily="18" charset="0"/>
                <a:cs typeface="Times New Roman" panose="02020603050405020304" pitchFamily="18" charset="0"/>
              </a:rPr>
              <a:t>It’s a system that helps people, companies, and organizations to manage their parking spaces.</a:t>
            </a:r>
          </a:p>
          <a:p>
            <a:pPr algn="just"/>
            <a:r>
              <a:rPr lang="en-US" b="0" i="0" dirty="0">
                <a:solidFill>
                  <a:srgbClr val="121416"/>
                </a:solidFill>
                <a:effectLst/>
                <a:highlight>
                  <a:srgbClr val="FFFFFF"/>
                </a:highlight>
                <a:latin typeface="Times New Roman" panose="02020603050405020304" pitchFamily="18" charset="0"/>
                <a:cs typeface="Times New Roman" panose="02020603050405020304" pitchFamily="18" charset="0"/>
              </a:rPr>
              <a:t>Managing car parks isn’t an easy task for companies and organizations because there are lots of moving parts including traffic and the availability of spaces. It is a time-consuming task, requires human labor, and is inefficient. Using a parking management system can help reduce a business’s administrative overhead on parking and reduce the impact of their parking space on their local community.</a:t>
            </a:r>
          </a:p>
          <a:p>
            <a:pPr algn="just"/>
            <a:r>
              <a:rPr lang="en-US" b="0" i="0" dirty="0">
                <a:solidFill>
                  <a:srgbClr val="121416"/>
                </a:solidFill>
                <a:effectLst/>
                <a:highlight>
                  <a:srgbClr val="FFFFFF"/>
                </a:highlight>
                <a:latin typeface="Times New Roman" panose="02020603050405020304" pitchFamily="18" charset="0"/>
                <a:cs typeface="Times New Roman" panose="02020603050405020304" pitchFamily="18" charset="0"/>
              </a:rPr>
              <a:t>Parking software is used at educational institutions, municipalities, offices, businesses, and corporate organizations. This article defines parking management systems, discusses their key components, and the different use cases for the systems and software.</a:t>
            </a:r>
          </a:p>
          <a:p>
            <a:endParaRPr lang="en-IN" dirty="0"/>
          </a:p>
        </p:txBody>
      </p:sp>
    </p:spTree>
    <p:extLst>
      <p:ext uri="{BB962C8B-B14F-4D97-AF65-F5344CB8AC3E}">
        <p14:creationId xmlns:p14="http://schemas.microsoft.com/office/powerpoint/2010/main" val="4158911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71333-9A3B-2C81-60FB-81583B7BA3FD}"/>
              </a:ext>
            </a:extLst>
          </p:cNvPr>
          <p:cNvSpPr>
            <a:spLocks noGrp="1"/>
          </p:cNvSpPr>
          <p:nvPr>
            <p:ph type="title"/>
          </p:nvPr>
        </p:nvSpPr>
        <p:spPr/>
        <p:txBody>
          <a:bodyPr/>
          <a:lstStyle/>
          <a:p>
            <a:r>
              <a:rPr lang="en-US" dirty="0">
                <a:solidFill>
                  <a:schemeClr val="accent2">
                    <a:lumMod val="50000"/>
                  </a:schemeClr>
                </a:solidFill>
                <a:latin typeface="Baskerville Old Face" panose="02020602080505020303" pitchFamily="18" charset="0"/>
              </a:rPr>
              <a:t>OBJECTIVES</a:t>
            </a:r>
            <a:endParaRPr lang="en-IN" dirty="0">
              <a:solidFill>
                <a:schemeClr val="accent2">
                  <a:lumMod val="50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D5616449-E7AE-534C-BE26-FF123136ED6A}"/>
              </a:ext>
            </a:extLst>
          </p:cNvPr>
          <p:cNvSpPr>
            <a:spLocks noGrp="1"/>
          </p:cNvSpPr>
          <p:nvPr>
            <p:ph idx="1"/>
          </p:nvPr>
        </p:nvSpPr>
        <p:spPr>
          <a:xfrm>
            <a:off x="557645" y="1773815"/>
            <a:ext cx="10515600" cy="4486275"/>
          </a:xfrm>
        </p:spPr>
        <p:txBody>
          <a:bodyPr>
            <a:normAutofit/>
          </a:bodyPr>
          <a:lstStyle/>
          <a:p>
            <a:r>
              <a:rPr lang="en-US" sz="4000" dirty="0">
                <a:latin typeface="Times New Roman" panose="02020603050405020304" pitchFamily="18" charset="0"/>
                <a:cs typeface="Times New Roman" panose="02020603050405020304" pitchFamily="18" charset="0"/>
              </a:rPr>
              <a:t>Access control system</a:t>
            </a:r>
          </a:p>
          <a:p>
            <a:r>
              <a:rPr lang="en-US" sz="4000" dirty="0">
                <a:latin typeface="Times New Roman" panose="02020603050405020304" pitchFamily="18" charset="0"/>
                <a:cs typeface="Times New Roman" panose="02020603050405020304" pitchFamily="18" charset="0"/>
              </a:rPr>
              <a:t>Revenue management</a:t>
            </a:r>
          </a:p>
          <a:p>
            <a:r>
              <a:rPr lang="en-US" sz="4000" dirty="0">
                <a:latin typeface="Times New Roman" panose="02020603050405020304" pitchFamily="18" charset="0"/>
                <a:cs typeface="Times New Roman" panose="02020603050405020304" pitchFamily="18" charset="0"/>
              </a:rPr>
              <a:t>Security system</a:t>
            </a:r>
          </a:p>
          <a:p>
            <a:r>
              <a:rPr lang="en-US" sz="4000" dirty="0">
                <a:latin typeface="Times New Roman" panose="02020603050405020304" pitchFamily="18" charset="0"/>
                <a:cs typeface="Times New Roman" panose="02020603050405020304" pitchFamily="18" charset="0"/>
              </a:rPr>
              <a:t>Boom barrier</a:t>
            </a:r>
          </a:p>
          <a:p>
            <a:r>
              <a:rPr lang="en-US" sz="4000" dirty="0">
                <a:latin typeface="Times New Roman" panose="02020603050405020304" pitchFamily="18" charset="0"/>
                <a:cs typeface="Times New Roman" panose="02020603050405020304" pitchFamily="18" charset="0"/>
              </a:rPr>
              <a:t>Statistical information</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9025351-6A86-C394-FD02-0E669CD09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2876" y="1700520"/>
            <a:ext cx="6046839" cy="4316822"/>
          </a:xfrm>
          <a:prstGeom prst="rect">
            <a:avLst/>
          </a:prstGeom>
        </p:spPr>
      </p:pic>
    </p:spTree>
    <p:extLst>
      <p:ext uri="{BB962C8B-B14F-4D97-AF65-F5344CB8AC3E}">
        <p14:creationId xmlns:p14="http://schemas.microsoft.com/office/powerpoint/2010/main" val="1229620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A263-D5A6-7D3A-863D-09FB6E98A76D}"/>
              </a:ext>
            </a:extLst>
          </p:cNvPr>
          <p:cNvSpPr>
            <a:spLocks noGrp="1"/>
          </p:cNvSpPr>
          <p:nvPr>
            <p:ph type="title"/>
          </p:nvPr>
        </p:nvSpPr>
        <p:spPr>
          <a:xfrm>
            <a:off x="311727" y="365125"/>
            <a:ext cx="11042073" cy="1325563"/>
          </a:xfrm>
        </p:spPr>
        <p:txBody>
          <a:bodyPr/>
          <a:lstStyle/>
          <a:p>
            <a:r>
              <a:rPr lang="en-US" dirty="0">
                <a:solidFill>
                  <a:schemeClr val="accent2">
                    <a:lumMod val="50000"/>
                  </a:schemeClr>
                </a:solidFill>
                <a:latin typeface="Baskerville Old Face" panose="02020602080505020303" pitchFamily="18" charset="0"/>
              </a:rPr>
              <a:t>EXSISTING SYSTEM</a:t>
            </a:r>
            <a:endParaRPr lang="en-IN" dirty="0">
              <a:solidFill>
                <a:schemeClr val="accent2">
                  <a:lumMod val="50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76F75117-1A8A-6DBD-4B31-DED876FE83B8}"/>
              </a:ext>
            </a:extLst>
          </p:cNvPr>
          <p:cNvSpPr>
            <a:spLocks noGrp="1"/>
          </p:cNvSpPr>
          <p:nvPr>
            <p:ph idx="1"/>
          </p:nvPr>
        </p:nvSpPr>
        <p:spPr>
          <a:xfrm>
            <a:off x="426027" y="1506682"/>
            <a:ext cx="10927773" cy="4670281"/>
          </a:xfrm>
        </p:spPr>
        <p:txBody>
          <a:bodyPr>
            <a:normAutofit/>
          </a:bodyPr>
          <a:lstStyle/>
          <a:p>
            <a:pPr algn="just">
              <a:buFont typeface="+mj-lt"/>
              <a:buAutoNum type="arabicPeriod"/>
            </a:pPr>
            <a:r>
              <a:rPr lang="en-US" sz="2600" b="1" i="0" dirty="0">
                <a:effectLst/>
                <a:highlight>
                  <a:srgbClr val="FFFFFF"/>
                </a:highlight>
                <a:latin typeface="Times New Roman" panose="02020603050405020304" pitchFamily="18" charset="0"/>
                <a:cs typeface="Times New Roman" panose="02020603050405020304" pitchFamily="18" charset="0"/>
              </a:rPr>
              <a:t>Long queues</a:t>
            </a:r>
            <a:r>
              <a:rPr lang="en-US" sz="2600" b="0" i="0" dirty="0">
                <a:effectLst/>
                <a:highlight>
                  <a:srgbClr val="FFFFFF"/>
                </a:highlight>
                <a:latin typeface="Times New Roman" panose="02020603050405020304" pitchFamily="18" charset="0"/>
                <a:cs typeface="Times New Roman" panose="02020603050405020304" pitchFamily="18" charset="0"/>
              </a:rPr>
              <a:t>: Traditional parking systems often require customers to take a ticket upon entry and pay for their parking upon exit. This can result in long queues, especially during peak hours or busy periods, which can be frustrating for customers and deter them from parking at your business.</a:t>
            </a:r>
          </a:p>
          <a:p>
            <a:pPr algn="just">
              <a:buFont typeface="+mj-lt"/>
              <a:buAutoNum type="arabicPeriod"/>
            </a:pPr>
            <a:r>
              <a:rPr lang="en-US" sz="2600" b="1" i="0" dirty="0">
                <a:effectLst/>
                <a:highlight>
                  <a:srgbClr val="FFFFFF"/>
                </a:highlight>
                <a:latin typeface="Times New Roman" panose="02020603050405020304" pitchFamily="18" charset="0"/>
                <a:cs typeface="Times New Roman" panose="02020603050405020304" pitchFamily="18" charset="0"/>
              </a:rPr>
              <a:t>Risk of fraud</a:t>
            </a:r>
            <a:r>
              <a:rPr lang="en-US" sz="2600" b="0" i="0" dirty="0">
                <a:effectLst/>
                <a:highlight>
                  <a:srgbClr val="FFFFFF"/>
                </a:highlight>
                <a:latin typeface="Times New Roman" panose="02020603050405020304" pitchFamily="18" charset="0"/>
                <a:cs typeface="Times New Roman" panose="02020603050405020304" pitchFamily="18" charset="0"/>
              </a:rPr>
              <a:t>: Traditional parking systems are susceptible to fraud, as customers can lose their tickets, and it can be challenging to verify the validity of the tickets presented upon exit. This can result in lost revenue for your business.</a:t>
            </a:r>
          </a:p>
          <a:p>
            <a:pPr algn="just">
              <a:buFont typeface="+mj-lt"/>
              <a:buAutoNum type="arabicPeriod"/>
            </a:pPr>
            <a:r>
              <a:rPr lang="en-US" sz="2600" b="1" i="0" dirty="0">
                <a:effectLst/>
                <a:highlight>
                  <a:srgbClr val="FFFFFF"/>
                </a:highlight>
                <a:latin typeface="Times New Roman" panose="02020603050405020304" pitchFamily="18" charset="0"/>
                <a:cs typeface="Times New Roman" panose="02020603050405020304" pitchFamily="18" charset="0"/>
              </a:rPr>
              <a:t>Inconvenient for customers</a:t>
            </a:r>
            <a:r>
              <a:rPr lang="en-US" sz="2600" b="0" i="0" dirty="0">
                <a:effectLst/>
                <a:highlight>
                  <a:srgbClr val="FFFFFF"/>
                </a:highlight>
                <a:latin typeface="Times New Roman" panose="02020603050405020304" pitchFamily="18" charset="0"/>
                <a:cs typeface="Times New Roman" panose="02020603050405020304" pitchFamily="18" charset="0"/>
              </a:rPr>
              <a:t>: Customers need to keep track of their parking tickets, which can be lost, and result in them paying for additional parking time. Additionally, traditional parking systems often require customers to handle cash, which may not be convenient for customers.</a:t>
            </a:r>
          </a:p>
          <a:p>
            <a:endParaRPr lang="en-IN" dirty="0"/>
          </a:p>
        </p:txBody>
      </p:sp>
    </p:spTree>
    <p:extLst>
      <p:ext uri="{BB962C8B-B14F-4D97-AF65-F5344CB8AC3E}">
        <p14:creationId xmlns:p14="http://schemas.microsoft.com/office/powerpoint/2010/main" val="414557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6C2AFC-84AD-6E63-3E98-302A785EE935}"/>
              </a:ext>
            </a:extLst>
          </p:cNvPr>
          <p:cNvSpPr txBox="1"/>
          <p:nvPr/>
        </p:nvSpPr>
        <p:spPr>
          <a:xfrm>
            <a:off x="510363" y="659219"/>
            <a:ext cx="11242613" cy="2308324"/>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4.Maintenance and management</a:t>
            </a:r>
            <a:r>
              <a:rPr lang="en-US" sz="2400" dirty="0">
                <a:latin typeface="Times New Roman" panose="02020603050405020304" pitchFamily="18" charset="0"/>
                <a:cs typeface="Times New Roman" panose="02020603050405020304" pitchFamily="18" charset="0"/>
              </a:rPr>
              <a:t>: Traditional parking systems require regular functioning correctly and restocking tickets. This can result in additional costs and management time.</a:t>
            </a:r>
          </a:p>
          <a:p>
            <a:pPr algn="just"/>
            <a:r>
              <a:rPr lang="en-US" sz="2400" b="1" dirty="0">
                <a:latin typeface="Times New Roman" panose="02020603050405020304" pitchFamily="18" charset="0"/>
                <a:cs typeface="Times New Roman" panose="02020603050405020304" pitchFamily="18" charset="0"/>
              </a:rPr>
              <a:t>5.Limited parking information</a:t>
            </a:r>
            <a:r>
              <a:rPr lang="en-US" sz="2400" dirty="0">
                <a:latin typeface="Times New Roman" panose="02020603050405020304" pitchFamily="18" charset="0"/>
                <a:cs typeface="Times New Roman" panose="02020603050405020304" pitchFamily="18" charset="0"/>
              </a:rPr>
              <a:t>: Traditional parking systems do not provide real-time information on parking spaces, which can result in inefficient use of parking spaces and frustrated customers who cannot find a parking spot.</a:t>
            </a:r>
          </a:p>
        </p:txBody>
      </p:sp>
      <p:pic>
        <p:nvPicPr>
          <p:cNvPr id="3" name="Picture 2">
            <a:extLst>
              <a:ext uri="{FF2B5EF4-FFF2-40B4-BE49-F238E27FC236}">
                <a16:creationId xmlns:a16="http://schemas.microsoft.com/office/drawing/2014/main" id="{59228B79-FDBC-DF02-705F-C38A9FA8B0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626" y="3205317"/>
            <a:ext cx="8023122" cy="3224980"/>
          </a:xfrm>
          <a:prstGeom prst="rect">
            <a:avLst/>
          </a:prstGeom>
        </p:spPr>
      </p:pic>
    </p:spTree>
    <p:extLst>
      <p:ext uri="{BB962C8B-B14F-4D97-AF65-F5344CB8AC3E}">
        <p14:creationId xmlns:p14="http://schemas.microsoft.com/office/powerpoint/2010/main" val="2435092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AA2D-86CA-6838-8B34-C068B272CC13}"/>
              </a:ext>
            </a:extLst>
          </p:cNvPr>
          <p:cNvSpPr>
            <a:spLocks noGrp="1"/>
          </p:cNvSpPr>
          <p:nvPr>
            <p:ph type="title"/>
          </p:nvPr>
        </p:nvSpPr>
        <p:spPr>
          <a:xfrm>
            <a:off x="301451" y="174207"/>
            <a:ext cx="11052349" cy="1325563"/>
          </a:xfrm>
        </p:spPr>
        <p:txBody>
          <a:bodyPr>
            <a:normAutofit/>
          </a:bodyPr>
          <a:lstStyle/>
          <a:p>
            <a:r>
              <a:rPr lang="en-US" sz="5400" dirty="0">
                <a:solidFill>
                  <a:schemeClr val="accent2">
                    <a:lumMod val="50000"/>
                  </a:schemeClr>
                </a:solidFill>
                <a:latin typeface="Baskerville Old Face" panose="02020602080505020303" pitchFamily="18" charset="0"/>
                <a:cs typeface="Times New Roman" panose="02020603050405020304" pitchFamily="18" charset="0"/>
              </a:rPr>
              <a:t>PROPOSED SYSTEM</a:t>
            </a:r>
            <a:endParaRPr lang="en-IN" sz="5400" dirty="0">
              <a:solidFill>
                <a:schemeClr val="accent2">
                  <a:lumMod val="50000"/>
                </a:schemeClr>
              </a:solidFill>
              <a:latin typeface="Baskerville Old Face" panose="02020602080505020303"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6EAB82-28F5-4BF2-5603-CDD8A7B4C430}"/>
              </a:ext>
            </a:extLst>
          </p:cNvPr>
          <p:cNvSpPr>
            <a:spLocks noGrp="1"/>
          </p:cNvSpPr>
          <p:nvPr>
            <p:ph idx="1"/>
          </p:nvPr>
        </p:nvSpPr>
        <p:spPr>
          <a:xfrm>
            <a:off x="301451" y="1499770"/>
            <a:ext cx="11052349" cy="4677193"/>
          </a:xfrm>
        </p:spPr>
        <p:txBody>
          <a:bodyPr>
            <a:normAutofit fontScale="92500"/>
          </a:bodyPr>
          <a:lstStyle/>
          <a:p>
            <a:pPr algn="just">
              <a:buFont typeface="+mj-lt"/>
              <a:buAutoNum type="arabicPeriod"/>
            </a:pPr>
            <a:r>
              <a:rPr lang="en-US" b="1" i="0" dirty="0">
                <a:effectLst/>
                <a:highlight>
                  <a:srgbClr val="FFFFFF"/>
                </a:highlight>
                <a:latin typeface="Times New Roman" panose="02020603050405020304" pitchFamily="18" charset="0"/>
                <a:cs typeface="Times New Roman" panose="02020603050405020304" pitchFamily="18" charset="0"/>
              </a:rPr>
              <a:t>Convenience</a:t>
            </a:r>
            <a:r>
              <a:rPr lang="en-US" b="0" i="0" dirty="0">
                <a:effectLst/>
                <a:highlight>
                  <a:srgbClr val="FFFFFF"/>
                </a:highlight>
                <a:latin typeface="Times New Roman" panose="02020603050405020304" pitchFamily="18" charset="0"/>
                <a:cs typeface="Times New Roman" panose="02020603050405020304" pitchFamily="18" charset="0"/>
              </a:rPr>
              <a:t>: Ticketless parking systems provide a more convenient experience for customers as they do not need to keep track of a ticket or queue to pay for their use of car parks. They can make payments using their mobile phones or contactless payment methods, which saves time and effort.</a:t>
            </a:r>
          </a:p>
          <a:p>
            <a:pPr algn="just">
              <a:buFont typeface="+mj-lt"/>
              <a:buAutoNum type="arabicPeriod"/>
            </a:pPr>
            <a:r>
              <a:rPr lang="en-US" b="1" i="0" dirty="0">
                <a:effectLst/>
                <a:highlight>
                  <a:srgbClr val="FFFFFF"/>
                </a:highlight>
                <a:latin typeface="Times New Roman" panose="02020603050405020304" pitchFamily="18" charset="0"/>
                <a:cs typeface="Times New Roman" panose="02020603050405020304" pitchFamily="18" charset="0"/>
              </a:rPr>
              <a:t>Improved customer experience</a:t>
            </a:r>
            <a:r>
              <a:rPr lang="en-US" b="0" i="0" dirty="0">
                <a:effectLst/>
                <a:highlight>
                  <a:srgbClr val="FFFFFF"/>
                </a:highlight>
                <a:latin typeface="Times New Roman" panose="02020603050405020304" pitchFamily="18" charset="0"/>
                <a:cs typeface="Times New Roman" panose="02020603050405020304" pitchFamily="18" charset="0"/>
              </a:rPr>
              <a:t>: Ticketless parking systems can help businesses improve the customer experience. By eliminating the need for customers to queue to pay for their parking or keep track of a ticket, businesses can reduce wait times and improve overall satisfaction levels.</a:t>
            </a:r>
          </a:p>
          <a:p>
            <a:pPr algn="just">
              <a:buFont typeface="+mj-lt"/>
              <a:buAutoNum type="arabicPeriod"/>
            </a:pPr>
            <a:r>
              <a:rPr lang="en-US" b="1" i="0" dirty="0">
                <a:effectLst/>
                <a:highlight>
                  <a:srgbClr val="FFFFFF"/>
                </a:highlight>
                <a:latin typeface="Times New Roman" panose="02020603050405020304" pitchFamily="18" charset="0"/>
                <a:cs typeface="Times New Roman" panose="02020603050405020304" pitchFamily="18" charset="0"/>
              </a:rPr>
              <a:t>Increased efficiency</a:t>
            </a:r>
            <a:r>
              <a:rPr lang="en-US" b="0" i="0" dirty="0">
                <a:effectLst/>
                <a:highlight>
                  <a:srgbClr val="FFFFFF"/>
                </a:highlight>
                <a:latin typeface="Times New Roman" panose="02020603050405020304" pitchFamily="18" charset="0"/>
                <a:cs typeface="Times New Roman" panose="02020603050405020304" pitchFamily="18" charset="0"/>
              </a:rPr>
              <a:t>: Ticketless parking systems can increase the efficiency of parking operations. They can reduce the time it takes for customers to enter and exit the parking lot, which can help reduce congestion and improve traffic flow.</a:t>
            </a:r>
          </a:p>
          <a:p>
            <a:endParaRPr lang="en-IN" dirty="0"/>
          </a:p>
        </p:txBody>
      </p:sp>
    </p:spTree>
    <p:extLst>
      <p:ext uri="{BB962C8B-B14F-4D97-AF65-F5344CB8AC3E}">
        <p14:creationId xmlns:p14="http://schemas.microsoft.com/office/powerpoint/2010/main" val="3942303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F9E21-621B-6873-6A7B-ED41F4BD49AC}"/>
              </a:ext>
            </a:extLst>
          </p:cNvPr>
          <p:cNvSpPr txBox="1"/>
          <p:nvPr/>
        </p:nvSpPr>
        <p:spPr>
          <a:xfrm>
            <a:off x="733530" y="533292"/>
            <a:ext cx="10470382" cy="3046988"/>
          </a:xfrm>
          <a:prstGeom prst="rect">
            <a:avLst/>
          </a:prstGeom>
          <a:noFill/>
        </p:spPr>
        <p:txBody>
          <a:bodyPr wrap="square">
            <a:spAutoFit/>
          </a:bodyPr>
          <a:lstStyle/>
          <a:p>
            <a:pPr algn="just">
              <a:buFont typeface="+mj-lt"/>
              <a:buAutoNum type="arabicPeriod"/>
            </a:pPr>
            <a:r>
              <a:rPr lang="en-US" sz="2400" b="1" i="0" dirty="0">
                <a:effectLst/>
                <a:highlight>
                  <a:srgbClr val="FFFFFF"/>
                </a:highlight>
                <a:latin typeface="Times New Roman" panose="02020603050405020304" pitchFamily="18" charset="0"/>
                <a:cs typeface="Times New Roman" panose="02020603050405020304" pitchFamily="18" charset="0"/>
              </a:rPr>
              <a:t>Reduced costs</a:t>
            </a:r>
            <a:r>
              <a:rPr lang="en-US" sz="2400" b="0" i="0" dirty="0">
                <a:effectLst/>
                <a:highlight>
                  <a:srgbClr val="FFFFFF"/>
                </a:highlight>
                <a:latin typeface="Times New Roman" panose="02020603050405020304" pitchFamily="18" charset="0"/>
                <a:cs typeface="Times New Roman" panose="02020603050405020304" pitchFamily="18" charset="0"/>
              </a:rPr>
              <a:t>: Ticketless parking systems can be more cost-effective than traditional parking systems. They can eliminate the need for ticket machines and reduce the need for staff to manage the parking lot, which can result in cost savings for the business.</a:t>
            </a:r>
          </a:p>
          <a:p>
            <a:pPr algn="just">
              <a:buFont typeface="+mj-lt"/>
              <a:buAutoNum type="arabicPeriod"/>
            </a:pPr>
            <a:r>
              <a:rPr lang="en-US" sz="2400" b="1" i="0" dirty="0">
                <a:effectLst/>
                <a:highlight>
                  <a:srgbClr val="FFFFFF"/>
                </a:highlight>
                <a:latin typeface="Times New Roman" panose="02020603050405020304" pitchFamily="18" charset="0"/>
                <a:cs typeface="Times New Roman" panose="02020603050405020304" pitchFamily="18" charset="0"/>
              </a:rPr>
              <a:t>Real-time tracking</a:t>
            </a:r>
            <a:r>
              <a:rPr lang="en-US" sz="2400" b="0" i="0" dirty="0">
                <a:effectLst/>
                <a:highlight>
                  <a:srgbClr val="FFFFFF"/>
                </a:highlight>
                <a:latin typeface="Times New Roman" panose="02020603050405020304" pitchFamily="18" charset="0"/>
                <a:cs typeface="Times New Roman" panose="02020603050405020304" pitchFamily="18" charset="0"/>
              </a:rPr>
              <a:t>: Ticketless parking systems can provide businesses with real-time tracking of parking spaces. They can help businesses optimize parking operations by monitoring parking usage and identifying patterns that can inform future decisions.</a:t>
            </a:r>
          </a:p>
        </p:txBody>
      </p:sp>
      <p:pic>
        <p:nvPicPr>
          <p:cNvPr id="4" name="Picture 3">
            <a:extLst>
              <a:ext uri="{FF2B5EF4-FFF2-40B4-BE49-F238E27FC236}">
                <a16:creationId xmlns:a16="http://schemas.microsoft.com/office/drawing/2014/main" id="{08A2ED04-783D-C791-8EA5-BBC0C90F32D8}"/>
              </a:ext>
            </a:extLst>
          </p:cNvPr>
          <p:cNvPicPr>
            <a:picLocks noChangeAspect="1"/>
          </p:cNvPicPr>
          <p:nvPr/>
        </p:nvPicPr>
        <p:blipFill rotWithShape="1">
          <a:blip r:embed="rId2">
            <a:extLst>
              <a:ext uri="{28A0092B-C50C-407E-A947-70E740481C1C}">
                <a14:useLocalDpi xmlns:a14="http://schemas.microsoft.com/office/drawing/2010/main" val="0"/>
              </a:ext>
            </a:extLst>
          </a:blip>
          <a:srcRect t="5215" b="5521"/>
          <a:stretch/>
        </p:blipFill>
        <p:spPr>
          <a:xfrm>
            <a:off x="2694039" y="3677265"/>
            <a:ext cx="7348368" cy="2861188"/>
          </a:xfrm>
          <a:prstGeom prst="rect">
            <a:avLst/>
          </a:prstGeom>
        </p:spPr>
      </p:pic>
    </p:spTree>
    <p:extLst>
      <p:ext uri="{BB962C8B-B14F-4D97-AF65-F5344CB8AC3E}">
        <p14:creationId xmlns:p14="http://schemas.microsoft.com/office/powerpoint/2010/main" val="2354562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9A544-3FDD-4B58-6A0E-1720C7114653}"/>
              </a:ext>
            </a:extLst>
          </p:cNvPr>
          <p:cNvSpPr>
            <a:spLocks noGrp="1"/>
          </p:cNvSpPr>
          <p:nvPr>
            <p:ph type="title"/>
          </p:nvPr>
        </p:nvSpPr>
        <p:spPr>
          <a:xfrm>
            <a:off x="215203" y="234496"/>
            <a:ext cx="10515600" cy="1325563"/>
          </a:xfrm>
        </p:spPr>
        <p:txBody>
          <a:bodyPr>
            <a:normAutofit/>
          </a:bodyPr>
          <a:lstStyle/>
          <a:p>
            <a:r>
              <a:rPr lang="en-US" sz="4800" dirty="0">
                <a:solidFill>
                  <a:schemeClr val="accent2">
                    <a:lumMod val="50000"/>
                  </a:schemeClr>
                </a:solidFill>
                <a:latin typeface="Baskerville Old Face" panose="02020602080505020303" pitchFamily="18" charset="0"/>
              </a:rPr>
              <a:t>SYSTEM ARCHITECTURE</a:t>
            </a:r>
            <a:endParaRPr lang="en-IN" sz="4800" dirty="0">
              <a:solidFill>
                <a:schemeClr val="accent2">
                  <a:lumMod val="50000"/>
                </a:schemeClr>
              </a:solidFill>
              <a:latin typeface="Baskerville Old Face" panose="02020602080505020303" pitchFamily="18" charset="0"/>
            </a:endParaRPr>
          </a:p>
        </p:txBody>
      </p:sp>
      <p:pic>
        <p:nvPicPr>
          <p:cNvPr id="5" name="Content Placeholder 4">
            <a:extLst>
              <a:ext uri="{FF2B5EF4-FFF2-40B4-BE49-F238E27FC236}">
                <a16:creationId xmlns:a16="http://schemas.microsoft.com/office/drawing/2014/main" id="{D6ECCC87-B31C-B774-DF9E-2EE9F2CC75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1446" y="1560058"/>
            <a:ext cx="5860026" cy="4328275"/>
          </a:xfrm>
        </p:spPr>
      </p:pic>
      <p:pic>
        <p:nvPicPr>
          <p:cNvPr id="4" name="Picture 3">
            <a:extLst>
              <a:ext uri="{FF2B5EF4-FFF2-40B4-BE49-F238E27FC236}">
                <a16:creationId xmlns:a16="http://schemas.microsoft.com/office/drawing/2014/main" id="{2D6805C4-DFD4-986F-6590-4038BA4E18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7715" y="1716504"/>
            <a:ext cx="5179974" cy="3962401"/>
          </a:xfrm>
          <a:prstGeom prst="rect">
            <a:avLst/>
          </a:prstGeom>
        </p:spPr>
      </p:pic>
    </p:spTree>
    <p:extLst>
      <p:ext uri="{BB962C8B-B14F-4D97-AF65-F5344CB8AC3E}">
        <p14:creationId xmlns:p14="http://schemas.microsoft.com/office/powerpoint/2010/main" val="2578314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09C4-554E-3E29-DEFC-4164165074D9}"/>
              </a:ext>
            </a:extLst>
          </p:cNvPr>
          <p:cNvSpPr>
            <a:spLocks noGrp="1"/>
          </p:cNvSpPr>
          <p:nvPr>
            <p:ph type="title"/>
          </p:nvPr>
        </p:nvSpPr>
        <p:spPr>
          <a:xfrm>
            <a:off x="190919" y="365125"/>
            <a:ext cx="11162881" cy="1325563"/>
          </a:xfrm>
        </p:spPr>
        <p:txBody>
          <a:bodyPr>
            <a:normAutofit/>
          </a:bodyPr>
          <a:lstStyle/>
          <a:p>
            <a:r>
              <a:rPr lang="en-US" sz="4800" dirty="0">
                <a:solidFill>
                  <a:schemeClr val="accent2">
                    <a:lumMod val="50000"/>
                  </a:schemeClr>
                </a:solidFill>
                <a:latin typeface="Baskerville Old Face" panose="02020602080505020303" pitchFamily="18" charset="0"/>
              </a:rPr>
              <a:t>REQUIREMENTS</a:t>
            </a:r>
            <a:endParaRPr lang="en-IN" sz="4800" dirty="0">
              <a:solidFill>
                <a:schemeClr val="accent2">
                  <a:lumMod val="50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C216B7BC-6F63-E7CC-70AA-9B1C5097963E}"/>
              </a:ext>
            </a:extLst>
          </p:cNvPr>
          <p:cNvSpPr>
            <a:spLocks noGrp="1"/>
          </p:cNvSpPr>
          <p:nvPr>
            <p:ph idx="1"/>
          </p:nvPr>
        </p:nvSpPr>
        <p:spPr>
          <a:xfrm>
            <a:off x="771833" y="1690688"/>
            <a:ext cx="10515600" cy="4351338"/>
          </a:xfrm>
        </p:spPr>
        <p:txBody>
          <a:bodyPr>
            <a:normAutofit/>
          </a:bodyPr>
          <a:lstStyle/>
          <a:p>
            <a:r>
              <a:rPr lang="en-US" sz="4400" u="sng" dirty="0">
                <a:latin typeface="Times New Roman" panose="02020603050405020304" pitchFamily="18" charset="0"/>
                <a:cs typeface="Times New Roman" panose="02020603050405020304" pitchFamily="18" charset="0"/>
              </a:rPr>
              <a:t>HARDWARE DEVICES</a:t>
            </a:r>
          </a:p>
          <a:p>
            <a:pPr marL="0" indent="0">
              <a:buNone/>
            </a:pPr>
            <a:r>
              <a:rPr lang="en-US" sz="4400" dirty="0">
                <a:latin typeface="Times New Roman" panose="02020603050405020304" pitchFamily="18" charset="0"/>
                <a:cs typeface="Times New Roman" panose="02020603050405020304" pitchFamily="18" charset="0"/>
              </a:rPr>
              <a:t>Sensors</a:t>
            </a:r>
          </a:p>
          <a:p>
            <a:pPr marL="0" indent="0">
              <a:buNone/>
            </a:pPr>
            <a:r>
              <a:rPr lang="en-US" sz="4400" dirty="0">
                <a:latin typeface="Times New Roman" panose="02020603050405020304" pitchFamily="18" charset="0"/>
                <a:cs typeface="Times New Roman" panose="02020603050405020304" pitchFamily="18" charset="0"/>
              </a:rPr>
              <a:t>Cameras and other devices </a:t>
            </a:r>
          </a:p>
          <a:p>
            <a:r>
              <a:rPr lang="en-US" sz="4400" u="sng" dirty="0">
                <a:latin typeface="Times New Roman" panose="02020603050405020304" pitchFamily="18" charset="0"/>
                <a:cs typeface="Times New Roman" panose="02020603050405020304" pitchFamily="18" charset="0"/>
              </a:rPr>
              <a:t>SOFTWARE REQUIREMENTS</a:t>
            </a:r>
          </a:p>
          <a:p>
            <a:pPr marL="0" indent="0">
              <a:buNone/>
            </a:pPr>
            <a:r>
              <a:rPr lang="en-US" sz="4400" dirty="0">
                <a:latin typeface="Times New Roman" panose="02020603050405020304" pitchFamily="18" charset="0"/>
                <a:cs typeface="Times New Roman" panose="02020603050405020304" pitchFamily="18" charset="0"/>
              </a:rPr>
              <a:t>Language of code: Python</a:t>
            </a:r>
          </a:p>
        </p:txBody>
      </p:sp>
    </p:spTree>
    <p:extLst>
      <p:ext uri="{BB962C8B-B14F-4D97-AF65-F5344CB8AC3E}">
        <p14:creationId xmlns:p14="http://schemas.microsoft.com/office/powerpoint/2010/main" val="2270725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4B9A-AAF6-1F93-2DB7-CB0261272DF6}"/>
              </a:ext>
            </a:extLst>
          </p:cNvPr>
          <p:cNvSpPr>
            <a:spLocks noGrp="1"/>
          </p:cNvSpPr>
          <p:nvPr>
            <p:ph type="title"/>
          </p:nvPr>
        </p:nvSpPr>
        <p:spPr>
          <a:xfrm>
            <a:off x="-312234" y="935618"/>
            <a:ext cx="10656074" cy="2967309"/>
          </a:xfrm>
        </p:spPr>
        <p:txBody>
          <a:bodyPr/>
          <a:lstStyle/>
          <a:p>
            <a:r>
              <a:rPr lang="en-US" dirty="0">
                <a:latin typeface="Bell MT" panose="02020503060305020303" pitchFamily="18" charset="0"/>
              </a:rPr>
              <a:t>              </a:t>
            </a:r>
            <a:r>
              <a:rPr lang="en-US" sz="8000" dirty="0">
                <a:latin typeface="Bell MT" panose="02020503060305020303" pitchFamily="18" charset="0"/>
              </a:rPr>
              <a:t>“THANK YOU”</a:t>
            </a:r>
            <a:endParaRPr lang="en-IN" sz="8000" dirty="0">
              <a:latin typeface="Bell MT" panose="02020503060305020303" pitchFamily="18" charset="0"/>
            </a:endParaRPr>
          </a:p>
        </p:txBody>
      </p:sp>
      <p:sp>
        <p:nvSpPr>
          <p:cNvPr id="3" name="Text Placeholder 2">
            <a:extLst>
              <a:ext uri="{FF2B5EF4-FFF2-40B4-BE49-F238E27FC236}">
                <a16:creationId xmlns:a16="http://schemas.microsoft.com/office/drawing/2014/main" id="{C6861172-4AE6-90F2-2F5B-B01711C634C5}"/>
              </a:ext>
            </a:extLst>
          </p:cNvPr>
          <p:cNvSpPr>
            <a:spLocks noGrp="1"/>
          </p:cNvSpPr>
          <p:nvPr>
            <p:ph type="body" idx="1"/>
          </p:nvPr>
        </p:nvSpPr>
        <p:spPr/>
        <p:txBody>
          <a:bodyPr/>
          <a:lstStyle/>
          <a:p>
            <a:r>
              <a:rPr lang="en-US" dirty="0"/>
              <a:t>    </a:t>
            </a:r>
          </a:p>
          <a:p>
            <a:endParaRPr lang="en-IN" dirty="0"/>
          </a:p>
        </p:txBody>
      </p:sp>
    </p:spTree>
    <p:extLst>
      <p:ext uri="{BB962C8B-B14F-4D97-AF65-F5344CB8AC3E}">
        <p14:creationId xmlns:p14="http://schemas.microsoft.com/office/powerpoint/2010/main" val="2404290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881</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Baskerville Old Face</vt:lpstr>
      <vt:lpstr>Bell MT</vt:lpstr>
      <vt:lpstr>Calibri</vt:lpstr>
      <vt:lpstr>Calibri Light</vt:lpstr>
      <vt:lpstr>Times New Roman</vt:lpstr>
      <vt:lpstr>Office Theme</vt:lpstr>
      <vt:lpstr>VIGNAN INSTITUTE OF MANAGEMENT AND             TECHNOLOGY FOR WOMEN                                MINI PROJECT                  PARKING MANAGEMENT SYSTEM</vt:lpstr>
      <vt:lpstr>ABSTRACT</vt:lpstr>
      <vt:lpstr>INTRODUCTION</vt:lpstr>
      <vt:lpstr>OBJECTIVES</vt:lpstr>
      <vt:lpstr>EXSISTING SYSTEM</vt:lpstr>
      <vt:lpstr>PowerPoint Presentation</vt:lpstr>
      <vt:lpstr>PROPOSED SYSTEM</vt:lpstr>
      <vt:lpstr>PowerPoint Presentation</vt:lpstr>
      <vt:lpstr>SYSTEM ARCHITECTURE</vt:lpstr>
      <vt:lpstr>REQUIREMENTS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akshaya naidi</dc:creator>
  <cp:lastModifiedBy>akshaya naidi</cp:lastModifiedBy>
  <cp:revision>2</cp:revision>
  <dcterms:created xsi:type="dcterms:W3CDTF">2024-06-15T04:00:03Z</dcterms:created>
  <dcterms:modified xsi:type="dcterms:W3CDTF">2024-06-15T08:18:55Z</dcterms:modified>
</cp:coreProperties>
</file>